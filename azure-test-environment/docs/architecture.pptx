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45720"/>
            <a:ext cx="1179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8D4"/>
                </a:solidFill>
              </a:rPr>
              <a:t>全体アーキテクチャ — リソースと Subnet の配置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" y="475488"/>
            <a:ext cx="1691640" cy="1828800"/>
          </a:xfrm>
          <a:prstGeom prst="rect">
            <a:avLst/>
          </a:prstGeom>
          <a:solidFill>
            <a:srgbClr val="F5F5F5"/>
          </a:solidFill>
          <a:ln w="1524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484632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606060"/>
                </a:solidFill>
              </a:rPr>
              <a:t>オンプレミス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749808"/>
            <a:ext cx="1463040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78638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</a:rPr>
              <a:t>ユーザー PC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996695"/>
            <a:ext cx="1463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606060"/>
                </a:solidFill>
              </a:rPr>
              <a:t>ブラウザ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325880"/>
            <a:ext cx="1463040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362456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</a:rPr>
              <a:t>VPN デバイス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1572768"/>
            <a:ext cx="1463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606060"/>
                </a:solidFill>
              </a:rPr>
              <a:t>IPsec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411480"/>
            <a:ext cx="7452360" cy="6172200"/>
          </a:xfrm>
          <a:prstGeom prst="rect">
            <a:avLst/>
          </a:prstGeom>
          <a:solidFill>
            <a:srgbClr val="E3F2FD"/>
          </a:solidFill>
          <a:ln w="2794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429768"/>
            <a:ext cx="7452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078D4"/>
                </a:solidFill>
              </a:rPr>
              <a:t>Virtual Network  10.0.0.0/16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76272" y="731520"/>
            <a:ext cx="2103120" cy="868680"/>
          </a:xfrm>
          <a:prstGeom prst="rect">
            <a:avLst/>
          </a:prstGeom>
          <a:solidFill>
            <a:srgbClr val="E8EAED"/>
          </a:solidFill>
          <a:ln w="1524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76272" y="749808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606060"/>
                </a:solidFill>
              </a:rPr>
              <a:t>GatewaySubnet  10.0.255.0/27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67712" y="1005840"/>
            <a:ext cx="1920240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67712" y="1042416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</a:rPr>
              <a:t>VPN Gateway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76272" y="1719072"/>
            <a:ext cx="2103120" cy="4663440"/>
          </a:xfrm>
          <a:prstGeom prst="rect">
            <a:avLst/>
          </a:prstGeom>
          <a:solidFill>
            <a:srgbClr val="B2DFDB"/>
          </a:solidFill>
          <a:ln w="19050">
            <a:solidFill>
              <a:srgbClr val="006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76272" y="1737360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00695C"/>
                </a:solidFill>
              </a:rPr>
              <a:t>subnet-pe  10.0.2.0/24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1947672"/>
            <a:ext cx="20299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00695C"/>
                </a:solidFill>
              </a:rPr>
              <a:t>Private Endpoint 置き場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40280" y="2176272"/>
            <a:ext cx="1965960" cy="530352"/>
          </a:xfrm>
          <a:prstGeom prst="rect">
            <a:avLst/>
          </a:prstGeom>
          <a:solidFill>
            <a:srgbClr val="E0F7FA"/>
          </a:solidFill>
          <a:ln w="15240">
            <a:solidFill>
              <a:srgbClr val="006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40280" y="2212848"/>
            <a:ext cx="1965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</a:rPr>
              <a:t>PE: Frontend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80" y="2834639"/>
            <a:ext cx="1965960" cy="530352"/>
          </a:xfrm>
          <a:prstGeom prst="rect">
            <a:avLst/>
          </a:prstGeom>
          <a:solidFill>
            <a:srgbClr val="E0F7FA"/>
          </a:solidFill>
          <a:ln w="15240">
            <a:solidFill>
              <a:srgbClr val="006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40280" y="2871215"/>
            <a:ext cx="1965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</a:rPr>
              <a:t>PE: Backend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40280" y="3493008"/>
            <a:ext cx="1965960" cy="530352"/>
          </a:xfrm>
          <a:prstGeom prst="rect">
            <a:avLst/>
          </a:prstGeom>
          <a:solidFill>
            <a:srgbClr val="E0F7FA"/>
          </a:solidFill>
          <a:ln w="15240">
            <a:solidFill>
              <a:srgbClr val="006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40280" y="3529584"/>
            <a:ext cx="1965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</a:rPr>
              <a:t>PE: Functions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40280" y="4151376"/>
            <a:ext cx="1965960" cy="530352"/>
          </a:xfrm>
          <a:prstGeom prst="rect">
            <a:avLst/>
          </a:prstGeom>
          <a:solidFill>
            <a:srgbClr val="E0F7FA"/>
          </a:solidFill>
          <a:ln w="15240">
            <a:solidFill>
              <a:srgbClr val="006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40280" y="4187952"/>
            <a:ext cx="1965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</a:rPr>
              <a:t>PE: Storage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40280" y="4809744"/>
            <a:ext cx="1965960" cy="530352"/>
          </a:xfrm>
          <a:prstGeom prst="rect">
            <a:avLst/>
          </a:prstGeom>
          <a:solidFill>
            <a:srgbClr val="E0F7FA"/>
          </a:solidFill>
          <a:ln w="15240">
            <a:solidFill>
              <a:srgbClr val="006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40280" y="4846320"/>
            <a:ext cx="1965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</a:rPr>
              <a:t>PE: AI Search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40280" y="5468112"/>
            <a:ext cx="1965960" cy="530352"/>
          </a:xfrm>
          <a:prstGeom prst="rect">
            <a:avLst/>
          </a:prstGeom>
          <a:solidFill>
            <a:srgbClr val="E0F7FA"/>
          </a:solidFill>
          <a:ln w="15240">
            <a:solidFill>
              <a:srgbClr val="006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40280" y="5504688"/>
            <a:ext cx="1965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</a:rPr>
              <a:t>PE: Foundry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34840" y="1719072"/>
            <a:ext cx="2286000" cy="2286000"/>
          </a:xfrm>
          <a:prstGeom prst="rect">
            <a:avLst/>
          </a:prstGeom>
          <a:solidFill>
            <a:srgbClr val="B3D9F7"/>
          </a:solidFill>
          <a:ln w="19050">
            <a:solidFill>
              <a:srgbClr val="0157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1737360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01579B"/>
                </a:solidFill>
              </a:rPr>
              <a:t>subnet-integration  10.0.1.0/24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1947672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01579B"/>
                </a:solidFill>
              </a:rPr>
              <a:t>App Service VNet Integration（出口）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7992" y="2176272"/>
            <a:ext cx="2103120" cy="594360"/>
          </a:xfrm>
          <a:prstGeom prst="rect">
            <a:avLst/>
          </a:prstGeom>
          <a:solidFill>
            <a:srgbClr val="FFFFFF"/>
          </a:solidFill>
          <a:ln w="1524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07992" y="2212848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</a:rPr>
              <a:t>App Service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07992" y="2423160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606060"/>
                </a:solidFill>
              </a:rPr>
              <a:t>Frontend / assistant-ui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07992" y="2852928"/>
            <a:ext cx="2103120" cy="594360"/>
          </a:xfrm>
          <a:prstGeom prst="rect">
            <a:avLst/>
          </a:prstGeom>
          <a:solidFill>
            <a:srgbClr val="FFFFFF"/>
          </a:solidFill>
          <a:ln w="1524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07992" y="2889504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</a:rPr>
              <a:t>App Service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07992" y="3099816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606060"/>
                </a:solidFill>
              </a:rPr>
              <a:t>Backend / FastAPI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07992" y="3502152"/>
            <a:ext cx="1005840" cy="201168"/>
          </a:xfrm>
          <a:prstGeom prst="rect">
            <a:avLst/>
          </a:prstGeom>
          <a:solidFill>
            <a:srgbClr val="E8F5E9"/>
          </a:solidFill>
          <a:ln w="1016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07992" y="35112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1B5E20"/>
                </a:solidFill>
              </a:rPr>
              <a:t>Managed ID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07992" y="3502152"/>
            <a:ext cx="1005840" cy="201168"/>
          </a:xfrm>
          <a:prstGeom prst="rect">
            <a:avLst/>
          </a:prstGeom>
          <a:solidFill>
            <a:srgbClr val="E8F5E9"/>
          </a:solidFill>
          <a:ln w="1016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34840" y="4160520"/>
            <a:ext cx="2286000" cy="1508760"/>
          </a:xfrm>
          <a:prstGeom prst="rect">
            <a:avLst/>
          </a:prstGeom>
          <a:solidFill>
            <a:srgbClr val="C8E6C9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34840" y="4178808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1B5E20"/>
                </a:solidFill>
              </a:rPr>
              <a:t>subnet-func-integration  10.0.4.0/24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60" y="4389120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1B5E20"/>
                </a:solidFill>
              </a:rPr>
              <a:t>Functions VNet Integration（出口）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07992" y="4617720"/>
            <a:ext cx="2103120" cy="594360"/>
          </a:xfrm>
          <a:prstGeom prst="rect">
            <a:avLst/>
          </a:prstGeom>
          <a:solidFill>
            <a:srgbClr val="FFFFFF"/>
          </a:solidFill>
          <a:ln w="1524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07992" y="4654296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</a:rPr>
              <a:t>Azure Functions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07992" y="4864608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606060"/>
                </a:solidFill>
              </a:rPr>
              <a:t>Flex Consumption / RAG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07992" y="5266944"/>
            <a:ext cx="1005840" cy="201168"/>
          </a:xfrm>
          <a:prstGeom prst="rect">
            <a:avLst/>
          </a:prstGeom>
          <a:solidFill>
            <a:srgbClr val="E8F5E9"/>
          </a:solidFill>
          <a:ln w="1016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07992" y="527608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1B5E20"/>
                </a:solidFill>
              </a:rPr>
              <a:t>Managed ID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903720" y="411480"/>
            <a:ext cx="3566160" cy="6172200"/>
          </a:xfrm>
          <a:prstGeom prst="rect">
            <a:avLst/>
          </a:prstGeom>
          <a:solidFill>
            <a:srgbClr val="F3E5F5"/>
          </a:solidFill>
          <a:ln w="19050">
            <a:solidFill>
              <a:srgbClr val="6A1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03720" y="429768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6A1A9A"/>
                </a:solidFill>
              </a:rPr>
              <a:t>Azure マネージドゾーン（VNet 外）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40880" y="749808"/>
            <a:ext cx="3291840" cy="594360"/>
          </a:xfrm>
          <a:prstGeom prst="rect">
            <a:avLst/>
          </a:prstGeom>
          <a:solidFill>
            <a:srgbClr val="FFFFFF"/>
          </a:solidFill>
          <a:ln w="1524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40880" y="786384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</a:rPr>
              <a:t>Storage Account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0" y="996695"/>
            <a:ext cx="3291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606060"/>
                </a:solidFill>
              </a:rPr>
              <a:t>RAG 用 blob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040880" y="1444752"/>
            <a:ext cx="3291840" cy="594360"/>
          </a:xfrm>
          <a:prstGeom prst="rect">
            <a:avLst/>
          </a:prstGeom>
          <a:solidFill>
            <a:srgbClr val="FFFFFF"/>
          </a:solidFill>
          <a:ln w="1524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40880" y="1481328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</a:rPr>
              <a:t>Azure AI Search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40880" y="1691640"/>
            <a:ext cx="3291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606060"/>
                </a:solidFill>
              </a:rPr>
              <a:t>ベクトル検索 / RAG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40880" y="2139696"/>
            <a:ext cx="3291840" cy="594360"/>
          </a:xfrm>
          <a:prstGeom prst="rect">
            <a:avLst/>
          </a:prstGeom>
          <a:solidFill>
            <a:srgbClr val="FFFFFF"/>
          </a:solidFill>
          <a:ln w="1524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040880" y="2176272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</a:rPr>
              <a:t>App Service Frontend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40880" y="2386584"/>
            <a:ext cx="3291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606060"/>
                </a:solidFill>
              </a:rPr>
              <a:t>Public 無効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40880" y="2834640"/>
            <a:ext cx="3291840" cy="594360"/>
          </a:xfrm>
          <a:prstGeom prst="rect">
            <a:avLst/>
          </a:prstGeom>
          <a:solidFill>
            <a:srgbClr val="FFFFFF"/>
          </a:solidFill>
          <a:ln w="1524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040880" y="2871216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</a:rPr>
              <a:t>App Service Backend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40880" y="3081528"/>
            <a:ext cx="3291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606060"/>
                </a:solidFill>
              </a:rPr>
              <a:t>Public 無効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40880" y="3529584"/>
            <a:ext cx="3291840" cy="594360"/>
          </a:xfrm>
          <a:prstGeom prst="rect">
            <a:avLst/>
          </a:prstGeom>
          <a:solidFill>
            <a:srgbClr val="FFFFFF"/>
          </a:solidFill>
          <a:ln w="1524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40880" y="3566160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</a:rPr>
              <a:t>Azure Functions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40880" y="3776472"/>
            <a:ext cx="3291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606060"/>
                </a:solidFill>
              </a:rPr>
              <a:t>Public 無効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040880" y="4224528"/>
            <a:ext cx="3291840" cy="2103120"/>
          </a:xfrm>
          <a:prstGeom prst="rect">
            <a:avLst/>
          </a:prstGeom>
          <a:solidFill>
            <a:srgbClr val="EEE0F8"/>
          </a:solidFill>
          <a:ln w="15240">
            <a:solidFill>
              <a:srgbClr val="6A1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40880" y="4242816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6A1A9A"/>
                </a:solidFill>
              </a:rPr>
              <a:t>Azure AI Foundry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32320" y="4517136"/>
            <a:ext cx="1508760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6A1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132320" y="4553712"/>
            <a:ext cx="1508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</a:rPr>
              <a:t>親エージェント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732520" y="4517136"/>
            <a:ext cx="1508760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6A1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732520" y="4553712"/>
            <a:ext cx="1508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</a:rPr>
              <a:t>子エージェント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132320" y="5074920"/>
            <a:ext cx="1508760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6A1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132320" y="5111496"/>
            <a:ext cx="1508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</a:rPr>
              <a:t>GPT-5.2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132320" y="5321808"/>
            <a:ext cx="1508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606060"/>
                </a:solidFill>
              </a:rPr>
              <a:t>LLM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732520" y="5074920"/>
            <a:ext cx="1508760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6A1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732520" y="5111496"/>
            <a:ext cx="1508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</a:rPr>
              <a:t>Embedding 003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040880" y="6400800"/>
            <a:ext cx="3291840" cy="347472"/>
          </a:xfrm>
          <a:prstGeom prst="rect">
            <a:avLst/>
          </a:prstGeom>
          <a:solidFill>
            <a:srgbClr val="FFF8E1"/>
          </a:solidFill>
          <a:ln w="12700">
            <a:solidFill>
              <a:srgbClr val="F57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040880" y="6409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65100"/>
                </a:solidFill>
              </a:rPr>
              <a:t>Log Analytics Workspace（監視）</a:t>
            </a:r>
          </a:p>
        </p:txBody>
      </p:sp>
      <p:cxnSp>
        <p:nvCxnSpPr>
          <p:cNvPr id="82" name="Connector 81"/>
          <p:cNvCxnSpPr/>
          <p:nvPr/>
        </p:nvCxnSpPr>
        <p:spPr>
          <a:xfrm flipV="1">
            <a:off x="1828800" y="1234440"/>
            <a:ext cx="347472" cy="329184"/>
          </a:xfrm>
          <a:prstGeom prst="bentConnector3">
            <a:avLst/>
          </a:prstGeom>
          <a:ln w="1905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359152" y="1481328"/>
            <a:ext cx="0" cy="237744"/>
          </a:xfrm>
          <a:prstGeom prst="bentConnector3">
            <a:avLst/>
          </a:prstGeom>
          <a:ln w="1905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206240" y="2450592"/>
            <a:ext cx="228600" cy="0"/>
          </a:xfrm>
          <a:prstGeom prst="bentConnector3">
            <a:avLst/>
          </a:prstGeom>
          <a:ln w="1905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206240" y="3145536"/>
            <a:ext cx="228600" cy="0"/>
          </a:xfrm>
          <a:prstGeom prst="bentConnector3">
            <a:avLst/>
          </a:prstGeom>
          <a:ln w="1905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206240" y="3840480"/>
            <a:ext cx="228600" cy="1069848"/>
          </a:xfrm>
          <a:prstGeom prst="bentConnector3">
            <a:avLst/>
          </a:prstGeom>
          <a:ln w="1905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6720840" y="1014984"/>
            <a:ext cx="182880" cy="0"/>
          </a:xfrm>
          <a:prstGeom prst="bentConnector3">
            <a:avLst/>
          </a:prstGeom>
          <a:ln w="1905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6720840" y="1709928"/>
            <a:ext cx="182880" cy="0"/>
          </a:xfrm>
          <a:prstGeom prst="bentConnector3">
            <a:avLst/>
          </a:prstGeom>
          <a:ln w="1905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6720840" y="4443984"/>
            <a:ext cx="182880" cy="36576"/>
          </a:xfrm>
          <a:prstGeom prst="bentConnector3">
            <a:avLst/>
          </a:prstGeom>
          <a:ln w="1905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9875520" y="2423160"/>
            <a:ext cx="548640" cy="20116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875520" y="24323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PUB×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875520" y="3118103"/>
            <a:ext cx="548640" cy="20116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875520" y="312724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PUB×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875520" y="3813048"/>
            <a:ext cx="548640" cy="20116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875520" y="3822191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PUB×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37160" y="6629400"/>
            <a:ext cx="1188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62828"/>
                </a:solidFill>
              </a:rPr>
              <a:t>※ App Service / Functions は Public Endpoint 無効 — 社外から DNS 解決不可・接続不可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45720"/>
            <a:ext cx="1179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8D4"/>
                </a:solidFill>
              </a:rPr>
              <a:t>Subnet の役割と Private Endpoint 一覧</a:t>
            </a:r>
          </a:p>
        </p:txBody>
      </p:sp>
      <p:sp>
        <p:nvSpPr>
          <p:cNvPr id="3" name="Rectangle 2"/>
          <p:cNvSpPr/>
          <p:nvPr/>
        </p:nvSpPr>
        <p:spPr>
          <a:xfrm>
            <a:off x="228600" y="475488"/>
            <a:ext cx="2103120" cy="3200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52120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Subnet 名</a:t>
            </a:r>
          </a:p>
        </p:txBody>
      </p:sp>
      <p:sp>
        <p:nvSpPr>
          <p:cNvPr id="5" name="Rectangle 4"/>
          <p:cNvSpPr/>
          <p:nvPr/>
        </p:nvSpPr>
        <p:spPr>
          <a:xfrm>
            <a:off x="2377440" y="475488"/>
            <a:ext cx="1280160" cy="3200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77440" y="52120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アドレス</a:t>
            </a:r>
          </a:p>
        </p:txBody>
      </p:sp>
      <p:sp>
        <p:nvSpPr>
          <p:cNvPr id="7" name="Rectangle 6"/>
          <p:cNvSpPr/>
          <p:nvPr/>
        </p:nvSpPr>
        <p:spPr>
          <a:xfrm>
            <a:off x="3703320" y="475488"/>
            <a:ext cx="2377440" cy="3200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03320" y="52120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役割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475488"/>
            <a:ext cx="2103120" cy="3200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52120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委任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75320" y="475488"/>
            <a:ext cx="2194560" cy="3200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5212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中に置くもの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795528"/>
            <a:ext cx="2103120" cy="530352"/>
          </a:xfrm>
          <a:prstGeom prst="rect">
            <a:avLst/>
          </a:prstGeom>
          <a:solidFill>
            <a:srgbClr val="E8EAED"/>
          </a:solidFill>
          <a:ln w="1016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832104"/>
            <a:ext cx="201167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909090"/>
                </a:solidFill>
              </a:rPr>
              <a:t>GatewaySubnet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7440" y="795528"/>
            <a:ext cx="128016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832104"/>
            <a:ext cx="118871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10.0.255.0/27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03320" y="795528"/>
            <a:ext cx="237744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49039" y="832104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VPN Gateway 専用（名前固定）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795528"/>
            <a:ext cx="210312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832104"/>
            <a:ext cx="201167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なし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75320" y="795528"/>
            <a:ext cx="219456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832104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VPN Gateway のみ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" y="1362456"/>
            <a:ext cx="2103120" cy="530352"/>
          </a:xfrm>
          <a:prstGeom prst="rect">
            <a:avLst/>
          </a:prstGeom>
          <a:solidFill>
            <a:srgbClr val="B2DFDB"/>
          </a:solidFill>
          <a:ln w="10160">
            <a:solidFill>
              <a:srgbClr val="006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1399032"/>
            <a:ext cx="201167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0695C"/>
                </a:solidFill>
              </a:rPr>
              <a:t>subnet-pe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77440" y="1362456"/>
            <a:ext cx="128016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23160" y="1399032"/>
            <a:ext cx="118871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10.0.2.0/24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03320" y="1362456"/>
            <a:ext cx="237744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49039" y="1399032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外→リソースへの入口
（インバウンド受け口）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1362456"/>
            <a:ext cx="210312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2200" y="1399032"/>
            <a:ext cx="201167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なし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75320" y="1362456"/>
            <a:ext cx="219456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1399032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Private Endpoint 全て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" y="1929384"/>
            <a:ext cx="2103120" cy="530352"/>
          </a:xfrm>
          <a:prstGeom prst="rect">
            <a:avLst/>
          </a:prstGeom>
          <a:solidFill>
            <a:srgbClr val="B3D9F7"/>
          </a:solidFill>
          <a:ln w="10160">
            <a:solidFill>
              <a:srgbClr val="0157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1965960"/>
            <a:ext cx="201167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1579B"/>
                </a:solidFill>
              </a:rPr>
              <a:t>subnet-integration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77440" y="1929384"/>
            <a:ext cx="128016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423160" y="1965960"/>
            <a:ext cx="118871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10.0.1.0/24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03320" y="1929384"/>
            <a:ext cx="237744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49039" y="1965960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App Service→VNet の出口
（アウトバウンド）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26480" y="1929384"/>
            <a:ext cx="210312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72200" y="1965960"/>
            <a:ext cx="201167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Microsoft.Web/serverFarms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20" y="1929384"/>
            <a:ext cx="219456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1040" y="1965960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App Service FE / BE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8600" y="2496312"/>
            <a:ext cx="2103120" cy="530352"/>
          </a:xfrm>
          <a:prstGeom prst="rect">
            <a:avLst/>
          </a:prstGeom>
          <a:solidFill>
            <a:srgbClr val="C8E6C9"/>
          </a:solidFill>
          <a:ln w="1016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4320" y="2532888"/>
            <a:ext cx="201167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1B5E20"/>
                </a:solidFill>
              </a:rPr>
              <a:t>subnet-func-integration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77440" y="2496312"/>
            <a:ext cx="128016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23160" y="2532888"/>
            <a:ext cx="118871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10.0.4.0/24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703320" y="2496312"/>
            <a:ext cx="237744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749039" y="2532888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Functions→VNet の出口
（アウトバウンド）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26480" y="2496312"/>
            <a:ext cx="210312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72200" y="2532888"/>
            <a:ext cx="201167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Microsoft.App/environments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75320" y="2496312"/>
            <a:ext cx="2194560" cy="530352"/>
          </a:xfrm>
          <a:prstGeom prst="rect">
            <a:avLst/>
          </a:prstGeom>
          <a:solidFill>
            <a:srgbClr val="FFFFFF"/>
          </a:solidFill>
          <a:ln w="1016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21040" y="2532888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Azure Functions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28600" y="28803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695C"/>
                </a:solidFill>
              </a:rPr>
              <a:t>Private Endpoint 一覧（全て subnet-pe に配置）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8600" y="3182112"/>
            <a:ext cx="1554480" cy="292608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28600" y="3200400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PE 名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28800" y="3182112"/>
            <a:ext cx="2286000" cy="292608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28800" y="32004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接続先リソース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160520" y="3182112"/>
            <a:ext cx="3200400" cy="292608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60520" y="320040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Private DNS Zone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406640" y="3182112"/>
            <a:ext cx="3566160" cy="292608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406640" y="3200400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備考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8600" y="3474720"/>
            <a:ext cx="1554480" cy="420624"/>
          </a:xfrm>
          <a:prstGeom prst="rect">
            <a:avLst/>
          </a:prstGeom>
          <a:solidFill>
            <a:srgbClr val="E0F7FA"/>
          </a:solidFill>
          <a:ln w="762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74320" y="3511296"/>
            <a:ext cx="1463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PE: Frontend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828800" y="3474720"/>
            <a:ext cx="2286000" cy="420624"/>
          </a:xfrm>
          <a:prstGeom prst="rect">
            <a:avLst/>
          </a:prstGeom>
          <a:solidFill>
            <a:srgbClr val="E0F7FA"/>
          </a:solidFill>
          <a:ln w="762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874519" y="3511296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App Service Frontend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60520" y="3474720"/>
            <a:ext cx="3200400" cy="420624"/>
          </a:xfrm>
          <a:prstGeom prst="rect">
            <a:avLst/>
          </a:prstGeom>
          <a:solidFill>
            <a:srgbClr val="E0F7FA"/>
          </a:solidFill>
          <a:ln w="762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06240" y="3511296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privatelink.azurewebsites.net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406640" y="3474720"/>
            <a:ext cx="3566160" cy="420624"/>
          </a:xfrm>
          <a:prstGeom prst="rect">
            <a:avLst/>
          </a:prstGeom>
          <a:solidFill>
            <a:srgbClr val="E0F7FA"/>
          </a:solidFill>
          <a:ln w="762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452360" y="351129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Public 無効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28600" y="3931920"/>
            <a:ext cx="1554480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4320" y="3968496"/>
            <a:ext cx="1463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PE: Backend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0" y="3931920"/>
            <a:ext cx="2286000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874519" y="3968496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App Service Backend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60520" y="3931920"/>
            <a:ext cx="3200400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206240" y="3968496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privatelink.azurewebsites.net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406640" y="3931920"/>
            <a:ext cx="3566160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452360" y="396849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Public 無効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28600" y="4389120"/>
            <a:ext cx="1554480" cy="420624"/>
          </a:xfrm>
          <a:prstGeom prst="rect">
            <a:avLst/>
          </a:prstGeom>
          <a:solidFill>
            <a:srgbClr val="E0F7FA"/>
          </a:solidFill>
          <a:ln w="762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74320" y="4425696"/>
            <a:ext cx="1463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PE: Functions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828800" y="4389120"/>
            <a:ext cx="2286000" cy="420624"/>
          </a:xfrm>
          <a:prstGeom prst="rect">
            <a:avLst/>
          </a:prstGeom>
          <a:solidFill>
            <a:srgbClr val="E0F7FA"/>
          </a:solidFill>
          <a:ln w="762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874519" y="4425696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Azure Functions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160520" y="4389120"/>
            <a:ext cx="3200400" cy="420624"/>
          </a:xfrm>
          <a:prstGeom prst="rect">
            <a:avLst/>
          </a:prstGeom>
          <a:solidFill>
            <a:srgbClr val="E0F7FA"/>
          </a:solidFill>
          <a:ln w="762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206240" y="4425696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privatelink.azurewebsites.net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406640" y="4389120"/>
            <a:ext cx="3566160" cy="420624"/>
          </a:xfrm>
          <a:prstGeom prst="rect">
            <a:avLst/>
          </a:prstGeom>
          <a:solidFill>
            <a:srgbClr val="E0F7FA"/>
          </a:solidFill>
          <a:ln w="762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452360" y="442569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Public 無効 / Flex Consumption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28600" y="4846320"/>
            <a:ext cx="1554480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74320" y="4882896"/>
            <a:ext cx="1463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PE: Storage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828800" y="4846320"/>
            <a:ext cx="2286000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874519" y="4882896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Storage Account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160520" y="4846320"/>
            <a:ext cx="3200400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206240" y="4882896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privatelink.blob.core.windows.net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406640" y="4846320"/>
            <a:ext cx="3566160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452360" y="488289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blob サブリソース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28600" y="5303520"/>
            <a:ext cx="1554480" cy="420624"/>
          </a:xfrm>
          <a:prstGeom prst="rect">
            <a:avLst/>
          </a:prstGeom>
          <a:solidFill>
            <a:srgbClr val="E0F7FA"/>
          </a:solidFill>
          <a:ln w="762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74320" y="5340096"/>
            <a:ext cx="1463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PE: AI Search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828800" y="5303520"/>
            <a:ext cx="2286000" cy="420624"/>
          </a:xfrm>
          <a:prstGeom prst="rect">
            <a:avLst/>
          </a:prstGeom>
          <a:solidFill>
            <a:srgbClr val="E0F7FA"/>
          </a:solidFill>
          <a:ln w="762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874519" y="5340096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Azure AI Search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160520" y="5303520"/>
            <a:ext cx="3200400" cy="420624"/>
          </a:xfrm>
          <a:prstGeom prst="rect">
            <a:avLst/>
          </a:prstGeom>
          <a:solidFill>
            <a:srgbClr val="E0F7FA"/>
          </a:solidFill>
          <a:ln w="762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206240" y="5340096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privatelink.search.windows.net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406640" y="5303520"/>
            <a:ext cx="3566160" cy="420624"/>
          </a:xfrm>
          <a:prstGeom prst="rect">
            <a:avLst/>
          </a:prstGeom>
          <a:solidFill>
            <a:srgbClr val="E0F7FA"/>
          </a:solidFill>
          <a:ln w="762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452360" y="534009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searchService サブリソース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28600" y="5760720"/>
            <a:ext cx="1554480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74320" y="5797296"/>
            <a:ext cx="1463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PE: Foundry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828800" y="5760720"/>
            <a:ext cx="2286000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874519" y="5797296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Azure AI Foundry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160520" y="5760720"/>
            <a:ext cx="3200400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206240" y="5797296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privatelink.services.ai.azure.com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406640" y="5760720"/>
            <a:ext cx="3566160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452360" y="579729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</a:rPr>
              <a:t>Hub・Project 各 1 個（TODO）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45720"/>
            <a:ext cx="1179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8D4"/>
                </a:solidFill>
              </a:rPr>
              <a:t>通信フロー — チャット回答が返るまで</a:t>
            </a:r>
          </a:p>
        </p:txBody>
      </p:sp>
      <p:sp>
        <p:nvSpPr>
          <p:cNvPr id="3" name="Rectangle 2"/>
          <p:cNvSpPr/>
          <p:nvPr/>
        </p:nvSpPr>
        <p:spPr>
          <a:xfrm>
            <a:off x="228600" y="475488"/>
            <a:ext cx="11704320" cy="731520"/>
          </a:xfrm>
          <a:prstGeom prst="rect">
            <a:avLst/>
          </a:prstGeom>
          <a:solidFill>
            <a:srgbClr val="F5F5F5"/>
          </a:solidFill>
          <a:ln w="1270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12064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09090"/>
                </a:solidFill>
              </a:rPr>
              <a:t>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12064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</a:rPr>
              <a:t>オンプレ PC → VPN デバイス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804672"/>
            <a:ext cx="10789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606060"/>
                </a:solidFill>
              </a:rPr>
              <a:t>オンプレ内通信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261872"/>
            <a:ext cx="11704320" cy="731520"/>
          </a:xfrm>
          <a:prstGeom prst="rect">
            <a:avLst/>
          </a:prstGeom>
          <a:solidFill>
            <a:srgbClr val="E8EAED"/>
          </a:solidFill>
          <a:ln w="1270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29844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09090"/>
                </a:solidFill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298448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</a:rPr>
              <a:t>VPN デバイス → VPN Gateway（GatewaySubnet）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591055"/>
            <a:ext cx="10789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606060"/>
                </a:solidFill>
              </a:rPr>
              <a:t>IPsec 暗号化トンネル経由で Azure VNet に入る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048256"/>
            <a:ext cx="11704320" cy="731520"/>
          </a:xfrm>
          <a:prstGeom prst="rect">
            <a:avLst/>
          </a:prstGeom>
          <a:solidFill>
            <a:srgbClr val="B2DFDB"/>
          </a:solidFill>
          <a:ln w="12700">
            <a:solidFill>
              <a:srgbClr val="006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" y="208483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695C"/>
                </a:solidFill>
              </a:rPr>
              <a:t>③④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84832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</a:rPr>
              <a:t>VPN GW → PE:Frontend（subnet-pe）→ App Service Frontend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377440"/>
            <a:ext cx="10789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606060"/>
                </a:solidFill>
              </a:rPr>
              <a:t>Private Endpoint がインバウンドを受け、Azure 内部プライベート回線でFrontend に転送。Public 無効のため社外からは DNS 解決すら不可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2834640"/>
            <a:ext cx="11704320" cy="731520"/>
          </a:xfrm>
          <a:prstGeom prst="rect">
            <a:avLst/>
          </a:prstGeom>
          <a:solidFill>
            <a:srgbClr val="B3D9F7"/>
          </a:solidFill>
          <a:ln w="12700">
            <a:solidFill>
              <a:srgbClr val="0157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032" y="287121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1579B"/>
                </a:solidFill>
              </a:rPr>
              <a:t>⑤⑥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871216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</a:rPr>
              <a:t>Frontend → subnet-integration（出口）→ PE:Backend → App Service Backend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163824"/>
            <a:ext cx="10789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606060"/>
                </a:solidFill>
              </a:rPr>
              <a:t>VNet Integration で subnet-integration を出口として使い、Private DNS が Backend の PE プライベート IP に解決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" y="3621024"/>
            <a:ext cx="11704320" cy="731520"/>
          </a:xfrm>
          <a:prstGeom prst="rect">
            <a:avLst/>
          </a:prstGeom>
          <a:solidFill>
            <a:srgbClr val="F3E5F5"/>
          </a:solidFill>
          <a:ln w="12700">
            <a:solidFill>
              <a:srgbClr val="6A1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6032" y="365760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6A1A9A"/>
                </a:solidFill>
              </a:rPr>
              <a:t>⑦⑧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657600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</a:rPr>
              <a:t>Backend → subnet-integration（出口）→ PE:Foundry → Azure AI Foundry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950208"/>
            <a:ext cx="10789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606060"/>
                </a:solidFill>
              </a:rPr>
              <a:t>Managed ID 認証。Backend が Foundry 親エージェントを呼ぶ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" y="4407408"/>
            <a:ext cx="11704320" cy="731520"/>
          </a:xfrm>
          <a:prstGeom prst="rect">
            <a:avLst/>
          </a:prstGeom>
          <a:solidFill>
            <a:srgbClr val="C8E6C9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6032" y="4443984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5E20"/>
                </a:solidFill>
              </a:rPr>
              <a:t>⑨⑩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443984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</a:rPr>
              <a:t>Foundry → PE:Functions（subnet-pe）→ Azure Functions（RAGツール）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736592"/>
            <a:ext cx="10789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606060"/>
                </a:solidFill>
              </a:rPr>
              <a:t>Foundry Managed Network 経由で Functions を呼ぶ。Functions は subnet-func-integration を出口として AI Search 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" y="5193792"/>
            <a:ext cx="11704320" cy="731520"/>
          </a:xfrm>
          <a:prstGeom prst="rect">
            <a:avLst/>
          </a:prstGeom>
          <a:solidFill>
            <a:srgbClr val="E8F5E9"/>
          </a:solidFill>
          <a:ln w="12700">
            <a:solidFill>
              <a:srgbClr val="0157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6032" y="523036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1579B"/>
                </a:solidFill>
              </a:rPr>
              <a:t>⑪⑫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230368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</a:rPr>
              <a:t>Functions → subnet-func-integration → PE:AI Search → Azure AI Search → 回答生成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522976"/>
            <a:ext cx="10789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606060"/>
                </a:solidFill>
              </a:rPr>
              <a:t>ベクトル検索結果を Foundry に返す。回答は逆経路で Frontend → オンプレ PC に返る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" y="6601968"/>
            <a:ext cx="11704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62828"/>
                </a:solidFill>
              </a:rPr>
              <a:t>社外からは全 App Service / Functions の Public Endpoint が無効 → DNS 解決不可・存在が見えない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