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</a:rPr>
              <a:t>Azure 最小構成 — アーキテクチャ全体図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1828800" cy="2011680"/>
          </a:xfrm>
          <a:prstGeom prst="rect">
            <a:avLst/>
          </a:prstGeom>
          <a:solidFill>
            <a:srgbClr val="F0F0F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6060"/>
                </a:solidFill>
              </a:rPr>
              <a:t>オンプレミス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15544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ユーザー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247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ブラウザ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5544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VPN デバイス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6479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IPsec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005840"/>
            <a:ext cx="1463040" cy="640080"/>
          </a:xfrm>
          <a:prstGeom prst="rect">
            <a:avLst/>
          </a:prstGeom>
          <a:solidFill>
            <a:srgbClr val="E0F0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051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VPN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26187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pip: output で確認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02920"/>
            <a:ext cx="5029200" cy="502920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52120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78D4"/>
                </a:solidFill>
              </a:rPr>
              <a:t>Virtual Network  10.0.0.0/16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822960"/>
            <a:ext cx="2194560" cy="502920"/>
          </a:xfrm>
          <a:prstGeom prst="rect">
            <a:avLst/>
          </a:prstGeom>
          <a:solidFill>
            <a:srgbClr val="C8DCF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84124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78D4"/>
                </a:solidFill>
              </a:rPr>
              <a:t>GatewaySubnet  10.0.255.0/27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463040"/>
            <a:ext cx="4663440" cy="3840480"/>
          </a:xfrm>
          <a:prstGeom prst="rect">
            <a:avLst/>
          </a:prstGeom>
          <a:solidFill>
            <a:srgbClr val="D0E8F8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48132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78D4"/>
                </a:solidFill>
              </a:rPr>
              <a:t>subnet-app  10.0.1.0/24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481328"/>
            <a:ext cx="411480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48132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</a:rPr>
              <a:t>NSG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1737360"/>
            <a:ext cx="4389120" cy="411480"/>
          </a:xfrm>
          <a:prstGeom prst="rect">
            <a:avLst/>
          </a:prstGeom>
          <a:solidFill>
            <a:srgbClr val="D8F0E8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7556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07C10"/>
                </a:solidFill>
              </a:rPr>
              <a:t>Private DNS Zone  privatelink.azurewebsites.net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28600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App Service (Frontend)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5420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assistant-ui / Node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063240"/>
            <a:ext cx="2011680" cy="320040"/>
          </a:xfrm>
          <a:prstGeom prst="rect">
            <a:avLst/>
          </a:prstGeom>
          <a:solidFill>
            <a:srgbClr val="E8F8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0815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78D4"/>
                </a:solidFill>
              </a:rPr>
              <a:t>Private Endpoint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56616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61187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App Service (Backend)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822191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FastAPI / Python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4343400"/>
            <a:ext cx="2011680" cy="320040"/>
          </a:xfrm>
          <a:prstGeom prst="rect">
            <a:avLst/>
          </a:prstGeom>
          <a:solidFill>
            <a:srgbClr val="E8F8FF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3616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78D4"/>
                </a:solidFill>
              </a:rPr>
              <a:t>Private Endpoint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377440"/>
            <a:ext cx="822960" cy="201168"/>
          </a:xfrm>
          <a:prstGeom prst="rect">
            <a:avLst/>
          </a:prstGeom>
          <a:solidFill>
            <a:srgbClr val="C0F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377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07C10"/>
                </a:solidFill>
              </a:rPr>
              <a:t>Managed 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657600"/>
            <a:ext cx="822960" cy="201168"/>
          </a:xfrm>
          <a:prstGeom prst="rect">
            <a:avLst/>
          </a:prstGeom>
          <a:solidFill>
            <a:srgbClr val="C0F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6576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07C10"/>
                </a:solidFill>
              </a:rPr>
              <a:t>Managed 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560320"/>
            <a:ext cx="2286000" cy="2286000"/>
          </a:xfrm>
          <a:prstGeom prst="rect">
            <a:avLst/>
          </a:prstGeom>
          <a:solidFill>
            <a:srgbClr val="FDF0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2578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00060"/>
                </a:solidFill>
              </a:rPr>
              <a:t>Microsoft Foundry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60" y="2834640"/>
            <a:ext cx="19659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288036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GPT-5.2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309067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LLM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3474720"/>
            <a:ext cx="19659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3520439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Embedding 003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37307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埋め込みモデル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8360" y="4114800"/>
            <a:ext cx="19659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360" y="416052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</a:rPr>
              <a:t>Foundry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437083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6060"/>
                </a:solidFill>
              </a:rPr>
              <a:t>agent-parent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97280" y="1508760"/>
            <a:ext cx="0" cy="246888"/>
          </a:xfrm>
          <a:prstGeom prst="bentConnector3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874519" y="1325880"/>
            <a:ext cx="594361" cy="429768"/>
          </a:xfrm>
          <a:prstGeom prst="bentConnector3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931920" y="1069848"/>
            <a:ext cx="548640" cy="256032"/>
          </a:xfrm>
          <a:prstGeom prst="bentConnector3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623560" y="3017520"/>
            <a:ext cx="0" cy="548640"/>
          </a:xfrm>
          <a:prstGeom prst="bentConnector3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629400" y="3520440"/>
            <a:ext cx="2971800" cy="411480"/>
          </a:xfrm>
          <a:prstGeom prst="bentConnector3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2880" y="5029200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</a:rPr>
              <a:t>※ Public Network Access: Disabled（社外から DNS 解決不可・接続不可）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</a:rPr>
              <a:t>ネットワーク設計 — アドレス・リソース一覧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128016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カテゴリ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594360"/>
            <a:ext cx="192024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640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リソース名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94360"/>
            <a:ext cx="24688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640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設定値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594360"/>
            <a:ext cx="530352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640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41832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98755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94183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987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vnet-rg-azure-test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941832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987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10.0.0.0/16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941832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9875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リージョン: Japan East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89304"/>
            <a:ext cx="128016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33502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Subnet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1289304"/>
            <a:ext cx="19202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13350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GatewaySubnet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1289304"/>
            <a:ext cx="246888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13350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10.0.255.0/27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89304"/>
            <a:ext cx="530352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3350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VPN Gateway 専用（名前固定）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63677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68249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Subnet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163677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1682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subnet-app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1636776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16824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10.0.1.0/24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36776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68249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App Service 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984248"/>
            <a:ext cx="128016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029967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NSG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1984248"/>
            <a:ext cx="19202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40" y="202996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nsg-app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1984248"/>
            <a:ext cx="246888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2029967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Inbound 許可: 443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984248"/>
            <a:ext cx="530352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029967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送信元: オンプレIP（tfvars 参照）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331720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2377439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VPN GW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0" y="233172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91640" y="23774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vpngw-main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2331720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03320" y="237743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SKU: VpnGw1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2331720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3774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Public IP は output で確認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679192"/>
            <a:ext cx="128016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27249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App Service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0" y="2679192"/>
            <a:ext cx="19202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91640" y="27249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app-fe-test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2679192"/>
            <a:ext cx="246888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03320" y="27249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B1 / Linux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679192"/>
            <a:ext cx="530352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2724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Frontend（Public 無効）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02666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07238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App Service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3026664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91640" y="30723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app-be-test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0" y="302666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03320" y="3072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B1 / Linux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3026664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30723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Backend（Public 無効）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374136"/>
            <a:ext cx="128016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341985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645920" y="3374136"/>
            <a:ext cx="19202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91640" y="34198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pe-app-fe-test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374136"/>
            <a:ext cx="246888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03320" y="34198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subnet-app に配置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3374136"/>
            <a:ext cx="530352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34198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Frontend Private Endpoint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72160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376732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0" y="3721608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91640" y="37673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pe-app-be-test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0" y="3721608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03320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subnet-app に配置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3721608"/>
            <a:ext cx="5303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7673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Backend Private Endpoint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4069080"/>
            <a:ext cx="128016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411480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DNS Zone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0" y="4069080"/>
            <a:ext cx="192024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91640" y="4114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privatelink.azurewebsites.net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0" y="4069080"/>
            <a:ext cx="246888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03320" y="41148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VNet リンク済み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17920" y="4069080"/>
            <a:ext cx="5303520" cy="347472"/>
          </a:xfrm>
          <a:prstGeom prst="rect">
            <a:avLst/>
          </a:prstGeom>
          <a:solidFill>
            <a:srgbClr val="F5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63640" y="4114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VNet 内の名前解決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309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00000"/>
                </a:solidFill>
              </a:rPr>
              <a:t>※ terraform.tfvars の allowed_ip_ranges にオンプレのグローバルIPを設定すること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</a:rPr>
              <a:t>通信フロー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11430000" cy="1234440"/>
          </a:xfrm>
          <a:prstGeom prst="rect">
            <a:avLst/>
          </a:prstGeom>
          <a:solidFill>
            <a:srgbClr val="F5F8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</a:rPr>
              <a:t>1. ユーザー →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1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オンプレ PC  →  VPN（IPsec）  →  VPN Gateway  →  VNet  →  Private Endpoint  →  App Service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</a:rPr>
              <a:t>補足: 社外からは DNS 解決不可。VPN 接続済みオンプレからのみ到達可能。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11430000" cy="1234440"/>
          </a:xfrm>
          <a:prstGeom prst="rect">
            <a:avLst/>
          </a:prstGeom>
          <a:solidFill>
            <a:srgbClr val="F5F8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</a:rPr>
              <a:t>2. Frontend →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App Service Frontend  →  VNet 内通信（VNet Integration）  →  App Service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</a:rPr>
              <a:t>補足: 同一 VNet 内の通信。インターネットを経由しない。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11430000" cy="1234440"/>
          </a:xfrm>
          <a:prstGeom prst="rect">
            <a:avLst/>
          </a:prstGeom>
          <a:solidFill>
            <a:srgbClr val="F5F8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429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8D4"/>
                </a:solidFill>
              </a:rPr>
              <a:t>3. Backend → AI（マネージドID 認証）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App Service Backend  →  マネージドID で EntraID 認証  →  Foundry / Azure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</a:rPr>
              <a:t>補足: キー・シークレット不要。Backend の Principal ID に Cognitive Services User ロールを付与。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754880"/>
            <a:ext cx="11430000" cy="123444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800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</a:rPr>
              <a:t>4. 社外からのアクセス（遮断）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074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インターネット  →  DNS 解決不可（Public Endpoint 無効）  →  接続不可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</a:rPr>
              <a:t>補足: 存在しないものとして扱われる。ログイン画面すら表示されない。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